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/>
    <p:restoredTop sz="94689"/>
  </p:normalViewPr>
  <p:slideViewPr>
    <p:cSldViewPr snapToGrid="0">
      <p:cViewPr>
        <p:scale>
          <a:sx n="106" d="100"/>
          <a:sy n="106" d="100"/>
        </p:scale>
        <p:origin x="72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6300D-11F8-270A-3605-EAE59C19D0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EB470-9502-CFEF-365A-CC0A964631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E96D77-0DC9-C1D7-4C02-0B3BAAD07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6B736-1E1A-3A49-AD69-927CA1E9B65D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065B8B-BE75-3CFA-6BE7-10881B4BC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A1F709-49BA-EE3F-F2CA-986251AA3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09EEE-3DA6-1F43-95B5-246731C77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247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2DD9D-1642-03FB-99EA-758B02369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1B77C-FB15-4336-E75C-17A642260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6C7E56-FED3-BCCF-8700-4D6155337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6B736-1E1A-3A49-AD69-927CA1E9B65D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ABE27-059B-BAE8-9DD4-85484BBED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BD8BD-9543-DE7A-4E3C-CC44DFD5F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09EEE-3DA6-1F43-95B5-246731C77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400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AFED5-5038-60F5-E360-3A2F90722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D27B7E-8EE0-E387-B4FC-CA8731FF19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0211C-9E25-675A-B212-1147528B3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6B736-1E1A-3A49-AD69-927CA1E9B65D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CEB18C-2DD2-125E-BA0C-5529F75D3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885089-3908-DB42-2405-3324527AB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09EEE-3DA6-1F43-95B5-246731C77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471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16806-87B8-1528-09F4-EE7FD35A4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7015F-3867-DFAB-FA0D-5999E9D73C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E2E97C-4195-0F65-8A36-85AD4C6685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99CE62-038E-6A38-E081-0EAF96F20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6B736-1E1A-3A49-AD69-927CA1E9B65D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A6CCDC-4595-579B-9AE8-E9485819D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AC09D2-B100-35EB-54AA-6E038D45A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09EEE-3DA6-1F43-95B5-246731C77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650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71BB1-4AE1-7B2C-C970-BCAC786DC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E1B377-01AC-224D-52AB-2287E63B3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C5B4C7-4A07-A76C-8912-15B9E20ADC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E879F-2DD2-1837-C25E-09FAE753F6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1A3A7B-399A-F83D-1A56-AD1B9A2838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AA7A1-BD9C-BB79-DCEB-804D196EA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6B736-1E1A-3A49-AD69-927CA1E9B65D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A91700-9239-C2D5-39DC-9DD8FD93F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B2266C-E7D4-0030-43B6-1CD227007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09EEE-3DA6-1F43-95B5-246731C77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558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9B05D-81F6-9349-B27E-7661E1C13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9E206A-0BF7-9934-1D9C-9058E4022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6B736-1E1A-3A49-AD69-927CA1E9B65D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2594BB-06E5-465D-1B3A-CB4ABFF26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E80B8D-DDAE-AA53-F29E-A595153F4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09EEE-3DA6-1F43-95B5-246731C77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437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4F971D-9763-1D6A-65F1-3EDD5C7BF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6B736-1E1A-3A49-AD69-927CA1E9B65D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950D0D-D81A-4F54-210B-544CCCC58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320FF4-BE17-BAAE-9816-9DD11BDD1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09EEE-3DA6-1F43-95B5-246731C77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927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A6C2D-A7E5-4EC7-1DD5-AAF3D532B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47720-D0F6-50F5-D359-63625AFFC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87EB76-3705-3568-3080-6F37C9F3E3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01DCE9-63FA-6554-6A09-722AA047B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6B736-1E1A-3A49-AD69-927CA1E9B65D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CDDE10-EA94-9E96-211C-94C5CB90D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BDE9E2-D8AF-9D73-90F3-1D4C196D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09EEE-3DA6-1F43-95B5-246731C77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874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C55B7-12AF-BE30-4D54-F80BA43EA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010E32-F8F7-A78E-F654-1668F8854DF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FA8229-5708-24D9-296B-35111DFF91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741CAD-4200-BB8F-A88B-FF9E64454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6B736-1E1A-3A49-AD69-927CA1E9B65D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0EA06A-013B-B1E1-A7CB-0F070892D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75C8F4-E32F-AD7E-2EF3-A96811C63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09EEE-3DA6-1F43-95B5-246731C77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361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9EB9A-DB95-A7B7-7FF4-23E2B4BF4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EA96A9-0F36-A50A-9B33-2E94953E47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A08EA-AC6D-CCB3-E9B3-5F553693B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6B736-1E1A-3A49-AD69-927CA1E9B65D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08F766-4A8D-2502-2C8E-2651FF9C0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C7457F-0E19-9BAB-E4A9-462000661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09EEE-3DA6-1F43-95B5-246731C77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32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5EFE94-1863-6DB7-3896-C24E10C758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4C6ECD-1D8F-4F13-BC71-5A09557582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75AE7-40D0-6522-2B0C-D4270F74E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6B736-1E1A-3A49-AD69-927CA1E9B65D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FCE94-031B-B82C-6550-7B87C0D6B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8A853-E835-6F06-4C84-6BECA40C0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09EEE-3DA6-1F43-95B5-246731C77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905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47BAE6-60A0-B5C1-67C0-FF0D0CAED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10B6FB-2CA8-1B0F-4144-CC20A35C8C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F0420-4684-2A45-9E57-2E4A778326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F6B736-1E1A-3A49-AD69-927CA1E9B65D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BC8FF-BE10-8C10-58B4-3728F259EA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915384-19AF-B0F2-AB33-88AFE981A5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B09EEE-3DA6-1F43-95B5-246731C77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905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E8D53F4-075E-2027-E52A-0CAAF7256AEB}"/>
              </a:ext>
            </a:extLst>
          </p:cNvPr>
          <p:cNvSpPr/>
          <p:nvPr/>
        </p:nvSpPr>
        <p:spPr>
          <a:xfrm>
            <a:off x="1194141" y="213729"/>
            <a:ext cx="2033000" cy="3525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Fluid_Properties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912D7D-1D15-201D-DC0A-07F874F1CF88}"/>
              </a:ext>
            </a:extLst>
          </p:cNvPr>
          <p:cNvSpPr/>
          <p:nvPr/>
        </p:nvSpPr>
        <p:spPr>
          <a:xfrm>
            <a:off x="1194141" y="566278"/>
            <a:ext cx="2033000" cy="14262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Tx/>
              <a:buChar char="-"/>
            </a:pPr>
            <a:r>
              <a:rPr lang="en-US" sz="1100" dirty="0">
                <a:solidFill>
                  <a:schemeClr val="tx1"/>
                </a:solidFill>
              </a:rPr>
              <a:t>Private mu</a:t>
            </a:r>
          </a:p>
          <a:p>
            <a:pPr marL="285750" indent="-285750">
              <a:buFontTx/>
              <a:buChar char="-"/>
            </a:pPr>
            <a:r>
              <a:rPr lang="en-US" sz="1100" dirty="0">
                <a:solidFill>
                  <a:schemeClr val="tx1"/>
                </a:solidFill>
              </a:rPr>
              <a:t>Private rho</a:t>
            </a:r>
          </a:p>
          <a:p>
            <a:pPr marL="285750" indent="-285750">
              <a:buFontTx/>
              <a:buChar char="-"/>
            </a:pPr>
            <a:r>
              <a:rPr lang="en-US" sz="1100" dirty="0">
                <a:solidFill>
                  <a:schemeClr val="tx1"/>
                </a:solidFill>
              </a:rPr>
              <a:t>Private M_flow</a:t>
            </a:r>
          </a:p>
          <a:p>
            <a:pPr marL="285750" indent="-285750">
              <a:buFontTx/>
              <a:buChar char="-"/>
            </a:pPr>
            <a:r>
              <a:rPr lang="en-US" sz="1100" dirty="0">
                <a:solidFill>
                  <a:schemeClr val="tx1"/>
                </a:solidFill>
              </a:rPr>
              <a:t>Private T_in</a:t>
            </a:r>
          </a:p>
          <a:p>
            <a:pPr marL="285750" indent="-285750">
              <a:buFontTx/>
              <a:buChar char="-"/>
            </a:pPr>
            <a:r>
              <a:rPr lang="en-US" sz="1100" dirty="0">
                <a:solidFill>
                  <a:schemeClr val="tx1"/>
                </a:solidFill>
              </a:rPr>
              <a:t>Private Cp</a:t>
            </a:r>
          </a:p>
          <a:p>
            <a:pPr marL="285750" indent="-285750">
              <a:buFontTx/>
              <a:buChar char="-"/>
            </a:pPr>
            <a:r>
              <a:rPr lang="en-US" sz="1100" dirty="0">
                <a:solidFill>
                  <a:schemeClr val="tx1"/>
                </a:solidFill>
              </a:rPr>
              <a:t>Private k</a:t>
            </a:r>
          </a:p>
          <a:p>
            <a:pPr marL="285750" indent="-285750">
              <a:buFontTx/>
              <a:buChar char="-"/>
            </a:pPr>
            <a:r>
              <a:rPr lang="en-US" sz="1100" dirty="0">
                <a:solidFill>
                  <a:schemeClr val="tx1"/>
                </a:solidFill>
              </a:rPr>
              <a:t>Private fouling_resistance</a:t>
            </a:r>
          </a:p>
          <a:p>
            <a:pPr marL="285750" indent="-285750">
              <a:buFontTx/>
              <a:buChar char="-"/>
            </a:pPr>
            <a:r>
              <a:rPr lang="en-US" sz="1100" dirty="0">
                <a:solidFill>
                  <a:schemeClr val="tx1"/>
                </a:solidFill>
              </a:rPr>
              <a:t>Private 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EB790C-DF2D-65C6-EFB0-C9E0F42F72A7}"/>
              </a:ext>
            </a:extLst>
          </p:cNvPr>
          <p:cNvSpPr/>
          <p:nvPr/>
        </p:nvSpPr>
        <p:spPr>
          <a:xfrm>
            <a:off x="4891914" y="211568"/>
            <a:ext cx="2235932" cy="3525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HeatExchanger_Geometry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46D100-E1D0-1429-D768-A6607FEE9B76}"/>
              </a:ext>
            </a:extLst>
          </p:cNvPr>
          <p:cNvSpPr/>
          <p:nvPr/>
        </p:nvSpPr>
        <p:spPr>
          <a:xfrm>
            <a:off x="4891914" y="564117"/>
            <a:ext cx="2235932" cy="14262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Tx/>
              <a:buChar char="-"/>
            </a:pPr>
            <a:r>
              <a:rPr lang="en-US" sz="1100" dirty="0">
                <a:solidFill>
                  <a:schemeClr val="tx1"/>
                </a:solidFill>
              </a:rPr>
              <a:t>Private n</a:t>
            </a:r>
          </a:p>
          <a:p>
            <a:pPr marL="285750" indent="-285750">
              <a:buFontTx/>
              <a:buChar char="-"/>
            </a:pPr>
            <a:r>
              <a:rPr lang="en-US" sz="1100" dirty="0">
                <a:solidFill>
                  <a:schemeClr val="tx1"/>
                </a:solidFill>
              </a:rPr>
              <a:t>Private l_leg</a:t>
            </a:r>
          </a:p>
          <a:p>
            <a:pPr marL="285750" indent="-285750">
              <a:buFontTx/>
              <a:buChar char="-"/>
            </a:pPr>
            <a:r>
              <a:rPr lang="en-US" sz="1100" dirty="0">
                <a:solidFill>
                  <a:schemeClr val="tx1"/>
                </a:solidFill>
              </a:rPr>
              <a:t>Private dInner_in</a:t>
            </a:r>
          </a:p>
          <a:p>
            <a:pPr marL="285750" indent="-285750">
              <a:buFontTx/>
              <a:buChar char="-"/>
            </a:pPr>
            <a:r>
              <a:rPr lang="en-US" sz="1100" dirty="0">
                <a:solidFill>
                  <a:schemeClr val="tx1"/>
                </a:solidFill>
              </a:rPr>
              <a:t>Private dInner_out</a:t>
            </a:r>
          </a:p>
          <a:p>
            <a:pPr marL="285750" indent="-285750">
              <a:buFontTx/>
              <a:buChar char="-"/>
            </a:pPr>
            <a:r>
              <a:rPr lang="en-US" sz="1100" dirty="0">
                <a:solidFill>
                  <a:schemeClr val="tx1"/>
                </a:solidFill>
              </a:rPr>
              <a:t>Private dOuter_in</a:t>
            </a:r>
          </a:p>
          <a:p>
            <a:pPr marL="285750" indent="-285750">
              <a:buFontTx/>
              <a:buChar char="-"/>
            </a:pPr>
            <a:r>
              <a:rPr lang="en-US" sz="1100" dirty="0">
                <a:solidFill>
                  <a:schemeClr val="tx1"/>
                </a:solidFill>
              </a:rPr>
              <a:t>Private k</a:t>
            </a:r>
          </a:p>
          <a:p>
            <a:pPr marL="285750" indent="-285750">
              <a:buFontTx/>
              <a:buChar char="-"/>
            </a:pPr>
            <a:r>
              <a:rPr lang="en-US" sz="1100" dirty="0">
                <a:solidFill>
                  <a:schemeClr val="tx1"/>
                </a:solidFill>
              </a:rPr>
              <a:t>Private eps_r</a:t>
            </a:r>
          </a:p>
          <a:p>
            <a:pPr marL="285750" indent="-285750">
              <a:buFontTx/>
              <a:buChar char="-"/>
            </a:pPr>
            <a:r>
              <a:rPr lang="en-US" sz="1100" dirty="0">
                <a:solidFill>
                  <a:schemeClr val="tx1"/>
                </a:solidFill>
              </a:rPr>
              <a:t>Private configuration</a:t>
            </a:r>
          </a:p>
        </p:txBody>
      </p: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64D5F8AE-E394-C81B-7F77-AE3340CBCA60}"/>
              </a:ext>
            </a:extLst>
          </p:cNvPr>
          <p:cNvCxnSpPr>
            <a:cxnSpLocks/>
          </p:cNvCxnSpPr>
          <p:nvPr/>
        </p:nvCxnSpPr>
        <p:spPr>
          <a:xfrm rot="16200000" flipH="1">
            <a:off x="2480733" y="2046003"/>
            <a:ext cx="857074" cy="750124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5DDDA54C-F04E-B2A6-EB7A-9185A030CED7}"/>
              </a:ext>
            </a:extLst>
          </p:cNvPr>
          <p:cNvCxnSpPr>
            <a:cxnSpLocks/>
          </p:cNvCxnSpPr>
          <p:nvPr/>
        </p:nvCxnSpPr>
        <p:spPr>
          <a:xfrm rot="16200000" flipH="1">
            <a:off x="2087721" y="2175505"/>
            <a:ext cx="857075" cy="491113"/>
          </a:xfrm>
          <a:prstGeom prst="bentConnector3">
            <a:avLst>
              <a:gd name="adj1" fmla="val 69680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A438C1FF-952E-374C-AC49-D6CD1322965F}"/>
              </a:ext>
            </a:extLst>
          </p:cNvPr>
          <p:cNvCxnSpPr>
            <a:cxnSpLocks/>
          </p:cNvCxnSpPr>
          <p:nvPr/>
        </p:nvCxnSpPr>
        <p:spPr>
          <a:xfrm rot="5400000">
            <a:off x="5195003" y="2020683"/>
            <a:ext cx="844781" cy="784977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D4C6D3BE-8766-12DD-416B-F61139C122D6}"/>
              </a:ext>
            </a:extLst>
          </p:cNvPr>
          <p:cNvSpPr/>
          <p:nvPr/>
        </p:nvSpPr>
        <p:spPr>
          <a:xfrm>
            <a:off x="1194141" y="2858384"/>
            <a:ext cx="5933705" cy="3525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Complete_Exchanger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5ECF73-763B-9C07-6C5C-D318B77E2DD7}"/>
              </a:ext>
            </a:extLst>
          </p:cNvPr>
          <p:cNvSpPr/>
          <p:nvPr/>
        </p:nvSpPr>
        <p:spPr>
          <a:xfrm>
            <a:off x="1194141" y="3210932"/>
            <a:ext cx="5933705" cy="12790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Tx/>
              <a:buChar char="-"/>
            </a:pPr>
            <a:r>
              <a:rPr lang="en-US" sz="1100" dirty="0">
                <a:solidFill>
                  <a:schemeClr val="tx1"/>
                </a:solidFill>
              </a:rPr>
              <a:t>Fluid_Properties Inner_Fluid</a:t>
            </a:r>
          </a:p>
          <a:p>
            <a:pPr marL="285750" indent="-285750">
              <a:buFontTx/>
              <a:buChar char="-"/>
            </a:pPr>
            <a:r>
              <a:rPr lang="en-US" sz="1100" dirty="0">
                <a:solidFill>
                  <a:schemeClr val="tx1"/>
                </a:solidFill>
              </a:rPr>
              <a:t>Fluid_Properties Annular_Fluid</a:t>
            </a:r>
          </a:p>
          <a:p>
            <a:pPr marL="285750" indent="-285750">
              <a:buFontTx/>
              <a:buChar char="-"/>
            </a:pPr>
            <a:r>
              <a:rPr lang="en-US" sz="1100" dirty="0">
                <a:solidFill>
                  <a:schemeClr val="tx1"/>
                </a:solidFill>
              </a:rPr>
              <a:t>HeatExchanger_Geometry geometry</a:t>
            </a:r>
          </a:p>
          <a:p>
            <a:pPr marL="285750" indent="-285750">
              <a:buFontTx/>
              <a:buChar char="-"/>
            </a:pPr>
            <a:endParaRPr lang="en-US" sz="1100" dirty="0">
              <a:solidFill>
                <a:schemeClr val="tx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1100" dirty="0">
                <a:solidFill>
                  <a:schemeClr val="tx1"/>
                </a:solidFill>
              </a:rPr>
              <a:t>Calculate_q(Fluid_Properties process, Fluid_Properties hotWater)</a:t>
            </a:r>
          </a:p>
          <a:p>
            <a:pPr marL="285750" indent="-285750">
              <a:buFontTx/>
              <a:buChar char="-"/>
            </a:pPr>
            <a:r>
              <a:rPr lang="en-US" sz="1100" dirty="0">
                <a:solidFill>
                  <a:schemeClr val="tx1"/>
                </a:solidFill>
              </a:rPr>
              <a:t>Calculate_t_out(Fluid_Properties process, Fluid_Properties hotWater)</a:t>
            </a:r>
          </a:p>
          <a:p>
            <a:pPr marL="285750" indent="-285750">
              <a:buFontTx/>
              <a:buChar char="-"/>
            </a:pPr>
            <a:r>
              <a:rPr lang="en-US" sz="1100" dirty="0">
                <a:solidFill>
                  <a:schemeClr val="tx1"/>
                </a:solidFill>
              </a:rPr>
              <a:t>Calculate_P()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0C0DFA5-7825-78F2-197F-610808334073}"/>
              </a:ext>
            </a:extLst>
          </p:cNvPr>
          <p:cNvCxnSpPr>
            <a:cxnSpLocks/>
            <a:stCxn id="9" idx="1"/>
            <a:endCxn id="9" idx="3"/>
          </p:cNvCxnSpPr>
          <p:nvPr/>
        </p:nvCxnSpPr>
        <p:spPr>
          <a:xfrm>
            <a:off x="1194141" y="3850465"/>
            <a:ext cx="5933705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E309BAA9-E1D7-1DF8-77CC-6D81810BCABA}"/>
              </a:ext>
            </a:extLst>
          </p:cNvPr>
          <p:cNvSpPr/>
          <p:nvPr/>
        </p:nvSpPr>
        <p:spPr>
          <a:xfrm>
            <a:off x="1194141" y="5043985"/>
            <a:ext cx="5933705" cy="3525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Cost_Estimation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C49479D-A1FE-2825-8014-65D10C4CE37A}"/>
              </a:ext>
            </a:extLst>
          </p:cNvPr>
          <p:cNvSpPr/>
          <p:nvPr/>
        </p:nvSpPr>
        <p:spPr>
          <a:xfrm>
            <a:off x="1194141" y="5396534"/>
            <a:ext cx="5933705" cy="6914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Tx/>
              <a:buChar char="-"/>
            </a:pPr>
            <a:r>
              <a:rPr lang="en-US" sz="1100" dirty="0">
                <a:solidFill>
                  <a:schemeClr val="tx1"/>
                </a:solidFill>
              </a:rPr>
              <a:t>Complete_Exchanger exchanger</a:t>
            </a:r>
          </a:p>
          <a:p>
            <a:pPr marL="285750" indent="-285750">
              <a:buFontTx/>
              <a:buChar char="-"/>
            </a:pPr>
            <a:endParaRPr lang="en-US" sz="1100" dirty="0">
              <a:solidFill>
                <a:schemeClr val="tx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1100" dirty="0">
                <a:solidFill>
                  <a:schemeClr val="tx1"/>
                </a:solidFill>
              </a:rPr>
              <a:t>calculateC_annual()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B0A82744-71A4-8CC0-ECB9-813A620ADB20}"/>
              </a:ext>
            </a:extLst>
          </p:cNvPr>
          <p:cNvCxnSpPr>
            <a:cxnSpLocks/>
          </p:cNvCxnSpPr>
          <p:nvPr/>
        </p:nvCxnSpPr>
        <p:spPr>
          <a:xfrm>
            <a:off x="1194141" y="5703452"/>
            <a:ext cx="5933705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5379447-D1A8-E9AF-2BD6-559FEFEB0D7B}"/>
              </a:ext>
            </a:extLst>
          </p:cNvPr>
          <p:cNvCxnSpPr>
            <a:stCxn id="9" idx="2"/>
            <a:endCxn id="50" idx="0"/>
          </p:cNvCxnSpPr>
          <p:nvPr/>
        </p:nvCxnSpPr>
        <p:spPr>
          <a:xfrm>
            <a:off x="4160994" y="4489997"/>
            <a:ext cx="0" cy="55398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186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118</Words>
  <Application>Microsoft Macintosh PowerPoint</Application>
  <PresentationFormat>Widescreen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 Samuel Boddy</dc:creator>
  <cp:lastModifiedBy>Victor Samuel Boddy</cp:lastModifiedBy>
  <cp:revision>2</cp:revision>
  <dcterms:created xsi:type="dcterms:W3CDTF">2026-10-16T17:15:02Z</dcterms:created>
  <dcterms:modified xsi:type="dcterms:W3CDTF">2026-10-16T17:49:40Z</dcterms:modified>
</cp:coreProperties>
</file>